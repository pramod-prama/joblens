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Inter"/>
      <p:regular r:id="rId12"/>
    </p:embeddedFont>
    <p:embeddedFont>
      <p:font typeface="Inter"/>
      <p:regular r:id="rId13"/>
    </p:embeddedFont>
    <p:embeddedFont>
      <p:font typeface="Inter"/>
      <p:regular r:id="rId14"/>
    </p:embeddedFont>
    <p:embeddedFont>
      <p:font typeface="Inter"/>
      <p:regular r:id="rId15"/>
    </p:embeddedFont>
    <p:embeddedFont>
      <p:font typeface="Manrope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27540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JobLens Agent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802975"/>
            <a:ext cx="587097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Recruitment Intelligence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4568428"/>
            <a:ext cx="130428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comprehensive end-to-end recruitment platform designed to transform your hiring pipeline through intelligent automation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331" y="749498"/>
            <a:ext cx="4978479" cy="528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Functional Modules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40331" y="1701403"/>
            <a:ext cx="13149739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JobLens Agent streamlines the entire recruitment process with seven integrated AI modules: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331" y="2277785"/>
            <a:ext cx="528757" cy="5287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3406" y="2403277"/>
            <a:ext cx="268021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Description Input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1533406" y="2860715"/>
            <a:ext cx="5649635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Multi-input system with NLP extraction of key requirements and real-time validation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359" y="2277785"/>
            <a:ext cx="528757" cy="5287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40435" y="2403277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Processing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8240435" y="2860715"/>
            <a:ext cx="5649635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Bulk PDF/DOCX parsing of candidate information with real-time progress tracking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31" y="3960733"/>
            <a:ext cx="528757" cy="5287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33406" y="4086225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 Scoring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1533406" y="4543663"/>
            <a:ext cx="5649635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AI-powered matching between resumes and job descriptions with gap analysis</a:t>
            </a:r>
            <a:endParaRPr lang="en-US" sz="1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359" y="3960733"/>
            <a:ext cx="528757" cy="5287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40435" y="4086225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Interviews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8240435" y="4543663"/>
            <a:ext cx="5649635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invitations, unique links, and AI analysis of candidate responses</a:t>
            </a:r>
            <a:endParaRPr lang="en-US" sz="16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31" y="5643682"/>
            <a:ext cx="528757" cy="52875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33406" y="5769173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</a:t>
            </a:r>
            <a:endParaRPr lang="en-US" sz="2050" dirty="0"/>
          </a:p>
        </p:txBody>
      </p:sp>
      <p:sp>
        <p:nvSpPr>
          <p:cNvPr id="18" name="Text 11"/>
          <p:cNvSpPr/>
          <p:nvPr/>
        </p:nvSpPr>
        <p:spPr>
          <a:xfrm>
            <a:off x="1533406" y="6226612"/>
            <a:ext cx="5649635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Auto-generated emails with tracking and template management capabilities</a:t>
            </a:r>
            <a:endParaRPr lang="en-US" sz="16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359" y="5643682"/>
            <a:ext cx="528757" cy="52875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40435" y="5769173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Shortlisting</a:t>
            </a:r>
            <a:endParaRPr lang="en-US" sz="2050" dirty="0"/>
          </a:p>
        </p:txBody>
      </p:sp>
      <p:sp>
        <p:nvSpPr>
          <p:cNvPr id="21" name="Text 13"/>
          <p:cNvSpPr/>
          <p:nvPr/>
        </p:nvSpPr>
        <p:spPr>
          <a:xfrm>
            <a:off x="8240435" y="6226612"/>
            <a:ext cx="5649635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Checkbox-based candidate selection with automated staff notifications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740331" y="7141488"/>
            <a:ext cx="13149739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modules integrate seamlessly with our 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Results Dashboard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featuring tabular summaries, visual indicators, and data export options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351" y="414099"/>
            <a:ext cx="3290649" cy="374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Roadmap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351" y="1125617"/>
            <a:ext cx="5213271" cy="52132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10764" y="1125617"/>
            <a:ext cx="337066" cy="337066"/>
          </a:xfrm>
          <a:prstGeom prst="roundRect">
            <a:avLst>
              <a:gd name="adj" fmla="val 400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66902" y="1153656"/>
            <a:ext cx="224671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597610" y="1177052"/>
            <a:ext cx="2189678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Description Analysis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597610" y="1560909"/>
            <a:ext cx="7515939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NLP processing to extract key requirements and qualifications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10764" y="2100024"/>
            <a:ext cx="337066" cy="337066"/>
          </a:xfrm>
          <a:prstGeom prst="roundRect">
            <a:avLst>
              <a:gd name="adj" fmla="val 400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66902" y="2128064"/>
            <a:ext cx="224671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597610" y="2151459"/>
            <a:ext cx="1872615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 Processing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597610" y="2535317"/>
            <a:ext cx="7515939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Automated parsing and data extraction from candidate documents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10764" y="3074432"/>
            <a:ext cx="337066" cy="337066"/>
          </a:xfrm>
          <a:prstGeom prst="roundRect">
            <a:avLst>
              <a:gd name="adj" fmla="val 400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66902" y="3102471"/>
            <a:ext cx="224671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597610" y="3125867"/>
            <a:ext cx="1872615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ATS Computation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597610" y="3509724"/>
            <a:ext cx="7515939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Algorithm development for accurate resume-to-JD matching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10764" y="4048839"/>
            <a:ext cx="337066" cy="337066"/>
          </a:xfrm>
          <a:prstGeom prst="roundRect">
            <a:avLst>
              <a:gd name="adj" fmla="val 400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66902" y="4076879"/>
            <a:ext cx="224671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597610" y="4100274"/>
            <a:ext cx="2682002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 Question Generation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597610" y="4484132"/>
            <a:ext cx="7515939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AI-driven creation of relevant assessment questions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10764" y="5023247"/>
            <a:ext cx="337066" cy="337066"/>
          </a:xfrm>
          <a:prstGeom prst="roundRect">
            <a:avLst>
              <a:gd name="adj" fmla="val 400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66902" y="5051286"/>
            <a:ext cx="224671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750" dirty="0"/>
          </a:p>
        </p:txBody>
      </p:sp>
      <p:sp>
        <p:nvSpPr>
          <p:cNvPr id="22" name="Text 19"/>
          <p:cNvSpPr/>
          <p:nvPr/>
        </p:nvSpPr>
        <p:spPr>
          <a:xfrm>
            <a:off x="6597610" y="5074682"/>
            <a:ext cx="2137529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Avatar Interview System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597610" y="5458539"/>
            <a:ext cx="7515939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Virtual interviewer with video capture capabilities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110764" y="5997654"/>
            <a:ext cx="337066" cy="337066"/>
          </a:xfrm>
          <a:prstGeom prst="roundRect">
            <a:avLst>
              <a:gd name="adj" fmla="val 400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66902" y="6025694"/>
            <a:ext cx="224671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750" dirty="0"/>
          </a:p>
        </p:txBody>
      </p:sp>
      <p:sp>
        <p:nvSpPr>
          <p:cNvPr id="26" name="Text 23"/>
          <p:cNvSpPr/>
          <p:nvPr/>
        </p:nvSpPr>
        <p:spPr>
          <a:xfrm>
            <a:off x="6597610" y="6049089"/>
            <a:ext cx="1872615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Analysis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597610" y="6432947"/>
            <a:ext cx="7515939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Sentiment, confidence, and content evaluation of answers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110764" y="6972062"/>
            <a:ext cx="337066" cy="337066"/>
          </a:xfrm>
          <a:prstGeom prst="roundRect">
            <a:avLst>
              <a:gd name="adj" fmla="val 40003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66902" y="7000101"/>
            <a:ext cx="224671" cy="280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750" dirty="0"/>
          </a:p>
        </p:txBody>
      </p:sp>
      <p:sp>
        <p:nvSpPr>
          <p:cNvPr id="30" name="Text 27"/>
          <p:cNvSpPr/>
          <p:nvPr/>
        </p:nvSpPr>
        <p:spPr>
          <a:xfrm>
            <a:off x="6597610" y="7023497"/>
            <a:ext cx="2748558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 Implementation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6597610" y="7407354"/>
            <a:ext cx="7515939" cy="239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Configurable thresholds, workflows, and audit logging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6494" y="758785"/>
            <a:ext cx="4286488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Resources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6236494" y="1535668"/>
            <a:ext cx="3714750" cy="3610451"/>
          </a:xfrm>
          <a:prstGeom prst="roundRect">
            <a:avLst>
              <a:gd name="adj" fmla="val 4052"/>
            </a:avLst>
          </a:prstGeom>
          <a:solidFill>
            <a:srgbClr val="FFF0ED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06014" y="1535668"/>
            <a:ext cx="121920" cy="3610451"/>
          </a:xfrm>
          <a:prstGeom prst="roundRect">
            <a:avLst>
              <a:gd name="adj" fmla="val 158212"/>
            </a:avLst>
          </a:prstGeom>
          <a:solidFill>
            <a:srgbClr val="FF7047"/>
          </a:solidFill>
          <a:ln/>
        </p:spPr>
      </p:sp>
      <p:sp>
        <p:nvSpPr>
          <p:cNvPr id="6" name="Text 3"/>
          <p:cNvSpPr/>
          <p:nvPr/>
        </p:nvSpPr>
        <p:spPr>
          <a:xfrm>
            <a:off x="6572726" y="1780461"/>
            <a:ext cx="267902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72726" y="2243852"/>
            <a:ext cx="3133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Access our demonstration environment at: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572726" y="3058239"/>
            <a:ext cx="31337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joblens.prama-ai.com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572726" y="3529727"/>
            <a:ext cx="31337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Experience the full recruitment workflow from job description input to candidate shortlisting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0165556" y="1535668"/>
            <a:ext cx="3714750" cy="3610451"/>
          </a:xfrm>
          <a:prstGeom prst="roundRect">
            <a:avLst>
              <a:gd name="adj" fmla="val 4052"/>
            </a:avLst>
          </a:prstGeom>
          <a:solidFill>
            <a:srgbClr val="FFF0ED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135076" y="1535668"/>
            <a:ext cx="121920" cy="3610451"/>
          </a:xfrm>
          <a:prstGeom prst="roundRect">
            <a:avLst>
              <a:gd name="adj" fmla="val 158212"/>
            </a:avLst>
          </a:prstGeom>
          <a:solidFill>
            <a:srgbClr val="FF7047"/>
          </a:solidFill>
          <a:ln/>
        </p:spPr>
      </p:sp>
      <p:sp>
        <p:nvSpPr>
          <p:cNvPr id="12" name="Text 9"/>
          <p:cNvSpPr/>
          <p:nvPr/>
        </p:nvSpPr>
        <p:spPr>
          <a:xfrm>
            <a:off x="10501789" y="1780461"/>
            <a:ext cx="267902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Repository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501789" y="2243852"/>
            <a:ext cx="3133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View and contribute to our codebase: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501789" y="3058239"/>
            <a:ext cx="3133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github.com/pramod-prama/Joblens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0501789" y="3872627"/>
            <a:ext cx="313372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Includes all components and modules following our modular development approach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236494" y="5360432"/>
            <a:ext cx="7643813" cy="2110264"/>
          </a:xfrm>
          <a:prstGeom prst="roundRect">
            <a:avLst>
              <a:gd name="adj" fmla="val 6933"/>
            </a:avLst>
          </a:prstGeom>
          <a:solidFill>
            <a:srgbClr val="FFF0ED"/>
          </a:solidFill>
          <a:ln w="30480">
            <a:solidFill>
              <a:srgbClr val="FF70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06014" y="5360432"/>
            <a:ext cx="121920" cy="2110264"/>
          </a:xfrm>
          <a:prstGeom prst="roundRect">
            <a:avLst>
              <a:gd name="adj" fmla="val 158212"/>
            </a:avLst>
          </a:prstGeom>
          <a:solidFill>
            <a:srgbClr val="FF7047"/>
          </a:solidFill>
          <a:ln/>
        </p:spPr>
      </p:sp>
      <p:sp>
        <p:nvSpPr>
          <p:cNvPr id="18" name="Text 15"/>
          <p:cNvSpPr/>
          <p:nvPr/>
        </p:nvSpPr>
        <p:spPr>
          <a:xfrm>
            <a:off x="6572726" y="5605224"/>
            <a:ext cx="2679025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Entry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572726" y="6068616"/>
            <a:ext cx="70627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Additional components are available in the source code: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572726" y="6540103"/>
            <a:ext cx="70627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highlight>
                  <a:srgbClr val="F2E3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JobInput.tsx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highlight>
                  <a:srgbClr val="F2E3E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ResumeUpload.tsx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other modular components under </a:t>
            </a:r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src/components/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260" y="437078"/>
            <a:ext cx="3179088" cy="39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60" y="1191816"/>
            <a:ext cx="794742" cy="12338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9951" y="1350764"/>
            <a:ext cx="1986915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509951" y="1758077"/>
            <a:ext cx="5611416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 + Tailwind CSS + shadcn/ui component library for a responsive and accessible user experience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" y="2425660"/>
            <a:ext cx="794742" cy="12338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9951" y="2584609"/>
            <a:ext cx="1986915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509951" y="2991922"/>
            <a:ext cx="5611416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Modal-based login/signup with secure session management and role-based access control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" y="3659505"/>
            <a:ext cx="794742" cy="12338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9951" y="3818453"/>
            <a:ext cx="1986915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509951" y="4225766"/>
            <a:ext cx="5611416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 API / GraphQL-ready architecture built with FastAPI or Flask for optimal performance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" y="4893350"/>
            <a:ext cx="794742" cy="12338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09951" y="5052298"/>
            <a:ext cx="1986915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Features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509951" y="5459611"/>
            <a:ext cx="5611416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WebSockets or long polling for progress tracking and live updates during recruitment processes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" y="6127194"/>
            <a:ext cx="794742" cy="12338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09951" y="6286143"/>
            <a:ext cx="1986915" cy="24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Export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1509951" y="6693456"/>
            <a:ext cx="5611416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Client-side Excel/CSV export via xlsx library for recruitment analytics and reporting</a:t>
            </a:r>
            <a:endParaRPr lang="en-US" sz="12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654" y="1191816"/>
            <a:ext cx="6565106" cy="656510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516654" y="7935635"/>
            <a:ext cx="6565106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architecture prioritizes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A6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scalability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CE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security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performance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handle recruitment data processing at enterprise scale.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2025-08-10T02:22:51Z</dcterms:created>
  <dcterms:modified xsi:type="dcterms:W3CDTF">2025-08-10T02:22:51Z</dcterms:modified>
</cp:coreProperties>
</file>